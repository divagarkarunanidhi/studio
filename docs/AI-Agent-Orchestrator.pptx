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9907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F4BD26-7655-F315-DBB5-F2CD60594FB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747474">
                    <a:alpha val="50000"/>
                  </a:srgbClr>
                </a:solidFill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FOR INTERNAL USE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 ORCHESTRATOR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B29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Unattended JSON-First Pipeline for Automated Failure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2743200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BugSense Platform  |  Next.js   |  GenAI Powered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Agents  •  Sequential Pipeline  •  Full Automation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Execution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execute sequentially — each depends on the output of preceding agents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078992" cy="1371600"/>
          </a:xfrm>
          <a:prstGeom prst="roundRect">
            <a:avLst>
              <a:gd name="adj" fmla="val 6780"/>
            </a:avLst>
          </a:prstGeom>
          <a:solidFill>
            <a:srgbClr val="4A90D9"/>
          </a:solidFill>
          <a:ln/>
          <a:effectLst>
            <a:outerShdw blurRad="50800" dist="25400" dir="16200000" algn="bl" rotWithShape="0">
              <a:srgbClr val="99999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9224" y="166420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9224" y="1664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" y="2057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53312" y="19659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90472" y="1554480"/>
            <a:ext cx="1078992" cy="1371600"/>
          </a:xfrm>
          <a:prstGeom prst="roundRect">
            <a:avLst>
              <a:gd name="adj" fmla="val 6780"/>
            </a:avLst>
          </a:prstGeom>
          <a:solidFill>
            <a:srgbClr val="5B9BD5"/>
          </a:solidFill>
          <a:ln/>
          <a:effectLst>
            <a:outerShdw blurRad="50800" dist="25400" dir="16200000" algn="bl" rotWithShape="0">
              <a:srgbClr val="99999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65376" y="166420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65376" y="1664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9B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27048" y="2057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Report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9464" y="19659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06624" y="1554480"/>
            <a:ext cx="1078992" cy="1371600"/>
          </a:xfrm>
          <a:prstGeom prst="roundRect">
            <a:avLst>
              <a:gd name="adj" fmla="val 6780"/>
            </a:avLst>
          </a:prstGeom>
          <a:solidFill>
            <a:srgbClr val="6CAED8"/>
          </a:solidFill>
          <a:ln/>
          <a:effectLst>
            <a:outerShdw blurRad="50800" dist="25400" dir="16200000" algn="bl" rotWithShape="0">
              <a:srgbClr val="99999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081528" y="166420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81528" y="1664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A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2057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Existing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Defects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85616" y="19659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922776" y="1554480"/>
            <a:ext cx="1078992" cy="1371600"/>
          </a:xfrm>
          <a:prstGeom prst="roundRect">
            <a:avLst>
              <a:gd name="adj" fmla="val 6780"/>
            </a:avLst>
          </a:prstGeom>
          <a:solidFill>
            <a:srgbClr val="ED7D31"/>
          </a:solidFill>
          <a:ln/>
          <a:effectLst>
            <a:outerShdw blurRad="50800" dist="25400" dir="16200000" algn="bl" rotWithShape="0">
              <a:srgbClr val="99999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97680" y="166420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97680" y="1664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7D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59352" y="2057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01768" y="19659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38928" y="1554480"/>
            <a:ext cx="1078992" cy="1371600"/>
          </a:xfrm>
          <a:prstGeom prst="roundRect">
            <a:avLst>
              <a:gd name="adj" fmla="val 6780"/>
            </a:avLst>
          </a:prstGeom>
          <a:solidFill>
            <a:srgbClr val="70AD47"/>
          </a:solidFill>
          <a:ln/>
          <a:effectLst>
            <a:outerShdw blurRad="50800" dist="25400" dir="16200000" algn="bl" rotWithShape="0">
              <a:srgbClr val="99999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13832" y="166420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13832" y="1664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0AD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75504" y="2057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Healing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19659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55080" y="1554480"/>
            <a:ext cx="1078992" cy="1371600"/>
          </a:xfrm>
          <a:prstGeom prst="roundRect">
            <a:avLst>
              <a:gd name="adj" fmla="val 6780"/>
            </a:avLst>
          </a:prstGeom>
          <a:solidFill>
            <a:srgbClr val="FFC000"/>
          </a:solidFill>
          <a:ln/>
          <a:effectLst>
            <a:outerShdw blurRad="50800" dist="25400" dir="16200000" algn="bl" rotWithShape="0">
              <a:srgbClr val="99999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729984" y="166420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29984" y="1664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91656" y="2057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GitLab 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34072" y="19659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71232" y="1554480"/>
            <a:ext cx="1078992" cy="1371600"/>
          </a:xfrm>
          <a:prstGeom prst="roundRect">
            <a:avLst>
              <a:gd name="adj" fmla="val 6780"/>
            </a:avLst>
          </a:prstGeom>
          <a:solidFill>
            <a:srgbClr val="9B59B6"/>
          </a:solidFill>
          <a:ln/>
          <a:effectLst>
            <a:outerShdw blurRad="50800" dist="25400" dir="16200000" algn="bl" rotWithShape="0">
              <a:srgbClr val="99999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946136" y="166420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946136" y="1664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07808" y="2057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650224" y="19659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787384" y="1554480"/>
            <a:ext cx="1078992" cy="1371600"/>
          </a:xfrm>
          <a:prstGeom prst="roundRect">
            <a:avLst>
              <a:gd name="adj" fmla="val 6780"/>
            </a:avLst>
          </a:prstGeom>
          <a:solidFill>
            <a:srgbClr val="E74C3C"/>
          </a:solidFill>
          <a:ln/>
          <a:effectLst>
            <a:outerShdw blurRad="50800" dist="25400" dir="16200000" algn="bl" rotWithShape="0">
              <a:srgbClr val="99999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162288" y="166420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162288" y="1664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823960" y="2057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Jira Defect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Scout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866376" y="196596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003536" y="1554480"/>
            <a:ext cx="1078992" cy="1371600"/>
          </a:xfrm>
          <a:prstGeom prst="roundRect">
            <a:avLst>
              <a:gd name="adj" fmla="val 6780"/>
            </a:avLst>
          </a:prstGeom>
          <a:solidFill>
            <a:srgbClr val="1ABC9C"/>
          </a:solidFill>
          <a:ln/>
          <a:effectLst>
            <a:outerShdw blurRad="50800" dist="25400" dir="16200000" algn="bl" rotWithShape="0">
              <a:srgbClr val="99999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0378440" y="166420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378440" y="1664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B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040112" y="205740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2971800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▼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20040" y="320040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reportRef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627632" y="2971800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▼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536192" y="320040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scenariosRef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2843784" y="2971800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▼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752344" y="320040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existingDefectsRef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059936" y="2971800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▼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968496" y="320040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classificationsRef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276088" y="2971800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▼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184648" y="320040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preparedContent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492240" y="2971800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▼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400800" y="320040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GitLab Repo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708392" y="2971800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▼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616952" y="320040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Info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924544" y="2971800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▼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833104" y="320040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Jira Tickets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0140696" y="2971800"/>
            <a:ext cx="1078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▼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49256" y="3200400"/>
            <a:ext cx="1261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Report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57200" y="3840480"/>
            <a:ext cx="10972800" cy="2560320"/>
          </a:xfrm>
          <a:prstGeom prst="roundRect">
            <a:avLst>
              <a:gd name="adj" fmla="val 3571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31520" y="3977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Design Principles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22960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Sequential Execution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1097280" y="46908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agent depends on previous outputs — no parallel execution between agents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22960" y="5074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Existing Defect Exclusion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1097280" y="53309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Scenarios with linked Jira defects are excluded from classification, healing, and new ticket creation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22960" y="5715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Reclassification After Healing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097280" y="59710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Unhealed "Data Issues" are auto-reclassified as "Functional Issues" for Jira ticket creation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126480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Consolidation Logic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400800" y="46908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Scenarios with identical normalized error logs are grouped into single Jira tickets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126480" y="5074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Manual Override Controls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6400800" y="53309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GitLab Sync and Jira Scout have auto/manual toggle for review before action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126480" y="5715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Multi-tier Fallback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400800" y="59710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1 (Store→Confluence), Agent 3 (Rules→ML→AI), Agent 4 (Exact→Segment→Name)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1: Execution Fetcher  &amp;  Agent 2: JSON Report Parser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F0F7FF"/>
          </a:solidFill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1: Execution Fetcher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Fetches latest test execution JSON from Selenium Data Store (MongoDB).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Falls back to Confluence if store is unavailable.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D2D2D"/>
                </a:solidFill>
              </a:rPr>
              <a:t>Data Sources (Priority Order):
</a:t>
            </a:r>
            <a:r>
              <a:rPr lang="en-US" sz="1100" b="1" dirty="0">
                <a:solidFill>
                  <a:srgbClr val="16A34A"/>
                </a:solidFill>
              </a:rPr>
              <a:t>1. </a:t>
            </a:r>
            <a:r>
              <a:rPr lang="en-US" sz="1000" dirty="0">
                <a:solidFill>
                  <a:srgbClr val="000000"/>
                </a:solidFill>
              </a:rPr>
              <a:t>Selenium Data Store  </a:t>
            </a: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/api/selenium/latest
</a:t>
            </a:r>
            <a:r>
              <a:rPr lang="en-US" sz="1100" b="1" dirty="0">
                <a:solidFill>
                  <a:srgbClr val="F59E0B"/>
                </a:solidFill>
              </a:rPr>
              <a:t>2. </a:t>
            </a:r>
            <a:r>
              <a:rPr lang="en-US" sz="1000" dirty="0">
                <a:solidFill>
                  <a:srgbClr val="000000"/>
                </a:solidFill>
              </a:rPr>
              <a:t>Confluence Fallback  </a:t>
            </a: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/api/confluence/fetch
</a:t>
            </a:r>
            <a:r>
              <a:rPr lang="en-US" sz="1100" b="1" dirty="0">
                <a:solidFill>
                  <a:srgbClr val="DC2626"/>
                </a:solidFill>
              </a:rPr>
              <a:t>3. </a:t>
            </a:r>
            <a:r>
              <a:rPr lang="en-US" sz="1000" dirty="0">
                <a:solidFill>
                  <a:srgbClr val="000000"/>
                </a:solidFill>
              </a:rPr>
              <a:t>Simulation Mode  </a:t>
            </a:r>
            <a:r>
              <a:rPr lang="en-US" sz="900" dirty="0">
                <a:solidFill>
                  <a:srgbClr val="6B7280"/>
                </a:solidFill>
              </a:rPr>
              <a:t>(Mock data for testing)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00584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F0FFF4"/>
          </a:solidFill>
          <a:ln w="1905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0" y="1097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9B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2: JSON Report Parser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Parses raw JSON to extract scenarios with pass/fail status, tags, and error logs.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D2D2D"/>
                </a:solidFill>
              </a:rPr>
              <a:t>Parsing Strategy:
</a:t>
            </a:r>
            <a:r>
              <a:rPr lang="en-US" sz="1100" b="1" dirty="0">
                <a:solidFill>
                  <a:srgbClr val="16A34A"/>
                </a:solidFill>
              </a:rPr>
              <a:t>1. </a:t>
            </a:r>
            <a:r>
              <a:rPr lang="en-US" sz="1000" dirty="0">
                <a:solidFill>
                  <a:srgbClr val="000000"/>
                </a:solidFill>
              </a:rPr>
              <a:t>Direct traversal of test_results[].elements[]
</a:t>
            </a:r>
            <a:r>
              <a:rPr lang="en-US" sz="1100" b="1" dirty="0">
                <a:solidFill>
                  <a:srgbClr val="F59E0B"/>
                </a:solidFill>
              </a:rPr>
              <a:t>2. </a:t>
            </a:r>
            <a:r>
              <a:rPr lang="en-US" sz="1000" dirty="0">
                <a:solidFill>
                  <a:srgbClr val="000000"/>
                </a:solidFill>
              </a:rPr>
              <a:t>GenAI fallback for non-standard formats
</a:t>
            </a:r>
            <a:r>
              <a:rPr lang="en-US" sz="1100" b="1" dirty="0">
                <a:solidFill>
                  <a:srgbClr val="2D2D2D"/>
                </a:solidFill>
              </a:rPr>
              <a:t>Output → scenariosRef:
</a:t>
            </a: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name, status, tags[], logs? 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reportRef  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Configuration (Agent 1)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0"/>
          <a:ext cx="5029200" cy="1463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confluencePath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Confluence base URL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confluencePageId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Page ID with JSON attachment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confluenceUser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Username for authentication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confluencePassword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API token / password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9: Check Existing Defects  &amp;  Agent 3: Failure Classifier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00" cy="2560320"/>
          </a:xfrm>
          <a:prstGeom prst="roundRect">
            <a:avLst>
              <a:gd name="adj" fmla="val 3571"/>
            </a:avLst>
          </a:prstGeom>
          <a:solidFill>
            <a:srgbClr val="FFF7ED"/>
          </a:solidFill>
          <a:ln w="19050">
            <a:solidFill>
              <a:srgbClr val="6CA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A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9: Check for Existing Defect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Searches Jira for existing linked defects.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Matched scenarios are 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C2626"/>
                </a:solidFill>
              </a:rPr>
              <a:t>excluded</a:t>
            </a:r>
            <a:r>
              <a:rPr lang="en-US" sz="1100" dirty="0">
                <a:solidFill>
                  <a:srgbClr val="000000"/>
                </a:solidFill>
              </a:rPr>
              <a:t> from downstream agents.
</a:t>
            </a:r>
            <a:r>
              <a:rPr lang="en-US" sz="1000" b="1" dirty="0">
                <a:solidFill>
                  <a:srgbClr val="000000"/>
                </a:solidFill>
              </a:rPr>
              <a:t>API: </a:t>
            </a: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/api/jira/search-defects
</a:t>
            </a:r>
            <a:r>
              <a:rPr lang="en-US" sz="1000" b="1" dirty="0">
                <a:solidFill>
                  <a:srgbClr val="000000"/>
                </a:solidFill>
              </a:rPr>
              <a:t>Filtering: </a:t>
            </a:r>
            <a:r>
              <a:rPr lang="en-US" sz="1000" dirty="0">
                <a:solidFill>
                  <a:srgbClr val="6B7280"/>
                </a:solidFill>
              </a:rPr>
              <a:t>Defect summary must contain the solution name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from the execution report → prevents cross-project matches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005840"/>
            <a:ext cx="5486400" cy="2560320"/>
          </a:xfrm>
          <a:prstGeom prst="roundRect">
            <a:avLst>
              <a:gd name="adj" fmla="val 3571"/>
            </a:avLst>
          </a:prstGeom>
          <a:solidFill>
            <a:srgbClr val="FFF5F5"/>
          </a:solidFill>
          <a:ln w="1905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7D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3: Failure Classifier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508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Multi-tier classification engine for failed scenarios: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192024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0" y="19385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1: Custom Rules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66560" y="21579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User-defined string patterns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0" y="251460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0" y="25328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2: Python ML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0" y="275234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AI/ML classification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310896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5F5F5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3: AI Heuristics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334670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GenAI reasoning fallback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Classification Categories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4389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🐛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44074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Issue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846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application bug → Jira ticket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429768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0" y="4389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886200" y="44074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Issue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0" y="4846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problem → Data healing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429768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 w="1905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55080" y="4389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766560" y="44074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 Issue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4846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/ connectivity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98280" y="429768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235440" y="4389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646920" y="44074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Script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35440" y="4846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automation code problem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4: Data Healing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Identifies test data files, performs OTM date gap healing and rate record injection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0FFF4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 OTM Date Gap Healing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Ensures minimum 4-day gap between dates:
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LATEPICKUPDATE - EARLYPICKUPDATE ≥ 4
• LATEDELIVERYDATE - EARLYDELIVERYDATE ≥ 4
</a:t>
            </a:r>
            <a:r>
              <a:rPr lang="en-US" sz="1000" dirty="0">
                <a:solidFill>
                  <a:srgbClr val="6B7280"/>
                </a:solidFill>
              </a:rPr>
              <a:t>Heals gaps automatically by adjusting late dates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Rate Record Injection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7830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For planning failure scenarios:
</a:t>
            </a:r>
            <a:r>
              <a:rPr lang="en-US" sz="1000" dirty="0">
                <a:solidFill>
                  <a:srgbClr val="000000"/>
                </a:solidFill>
              </a:rPr>
              <a:t>1. Query MongoDB PlanningHistory
2. 3-tier fallback matching:
</a:t>
            </a: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Exact → Env segment → Scenario name
</a:t>
            </a:r>
            <a:r>
              <a:rPr lang="en-US" sz="1000" dirty="0">
                <a:solidFill>
                  <a:srgbClr val="000000"/>
                </a:solidFill>
              </a:rPr>
              <a:t>3. Inject Rate Record ID + Constraints flag
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11247120" cy="1097280"/>
          </a:xfrm>
          <a:prstGeom prst="roundRect">
            <a:avLst>
              <a:gd name="adj" fmla="val 8333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 Reclassification Logic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If a scenario classified as "Data Issue" has </a:t>
            </a:r>
            <a:r>
              <a:rPr lang="en-US" sz="1100" b="1" dirty="0">
                <a:solidFill>
                  <a:srgbClr val="DC2626"/>
                </a:solidFill>
              </a:rPr>
              <a:t>NO data healed</a:t>
            </a:r>
            <a:r>
              <a:rPr lang="en-US" sz="1100" dirty="0">
                <a:solidFill>
                  <a:srgbClr val="000000"/>
                </a:solidFill>
              </a:rPr>
              <a:t> (no dates fixed, no rate record injected), it is automatically reclassified as "</a:t>
            </a:r>
            <a:r>
              <a:rPr lang="en-US" sz="1100" b="1" dirty="0">
                <a:solidFill>
                  <a:srgbClr val="DC2626"/>
                </a:solidFill>
              </a:rPr>
              <a:t>Functional Issue</a:t>
            </a:r>
            <a:r>
              <a:rPr lang="en-US" sz="1100" dirty="0">
                <a:solidFill>
                  <a:srgbClr val="000000"/>
                </a:solidFill>
              </a:rPr>
              <a:t>" → ensuring Agent 7 creates a Jira ticket for 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5120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Endpoints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486400"/>
          <a:ext cx="11247120" cy="87782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/api/gitlab/update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Fetch JSON from GitLab, heal dates, inject rate records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/api/mongo/planning-history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Query MongoDB for rate records (3-tier fallback)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5: GitLab Data Sync  &amp;  Agent 6: Pipeline Orchestrator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FFFBEB"/>
          </a:solidFill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86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5: GitLab Data Sync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Commits healed JSON back to GitLab repository.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A34A"/>
                </a:solidFill>
              </a:rPr>
              <a:t>Auto-commit Mode (default):
</a:t>
            </a:r>
            <a:r>
              <a:rPr lang="en-US" sz="1000" dirty="0">
                <a:solidFill>
                  <a:srgbClr val="6B7280"/>
                </a:solidFill>
              </a:rPr>
              <a:t>→ Commits immediately on pipeline run
→ Logs commit hash
</a:t>
            </a:r>
            <a:r>
              <a:rPr lang="en-US" sz="1100" b="1" dirty="0">
                <a:solidFill>
                  <a:srgbClr val="F59E0B"/>
                </a:solidFill>
              </a:rPr>
              <a:t>Manual Mode (gitlabAutoCommit = false):
</a:t>
            </a:r>
            <a:r>
              <a:rPr lang="en-US" sz="1000" dirty="0">
                <a:solidFill>
                  <a:srgbClr val="6B7280"/>
                </a:solidFill>
              </a:rPr>
              <a:t>→ Shows "Pending Commit" status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→ "View JSON" button for review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→ "Commit Now" button to push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00584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F5F0FF"/>
          </a:solidFill>
          <a:ln w="1905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6: Pipeline Orchestrator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508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Triggers GitLab pipeline reruns and fetches pipeline details.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D2D2D"/>
                </a:solidFill>
              </a:rPr>
              <a:t>Execution Steps:
</a:t>
            </a:r>
            <a:r>
              <a:rPr lang="en-US" sz="1000" dirty="0">
                <a:solidFill>
                  <a:srgbClr val="000000"/>
                </a:solidFill>
              </a:rPr>
              <a:t>1. List all pipeline schedules from GitLab
2. Find schedule by description (case-insensitive)
3. Trigger via POST /pipeline_schedules/:id/play
4. Wait 2s → fetch latest pipeline details
5. Return: id, status, branch, web_url
</a:t>
            </a:r>
            <a:r>
              <a:rPr lang="en-US" sz="1000" dirty="0">
                <a:solidFill>
                  <a:srgbClr val="6B7280"/>
                </a:solidFill>
              </a:rPr>
              <a:t>Pipeline URL included in Teams notification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as a clickable link.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Configuration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46320"/>
          <a:ext cx="11247120" cy="16459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Agent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gitlabAutoCommit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Toggle auto/manual commit (default: true)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gitlabToken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4,5,6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GitLab private access token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gitlabProjectId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4,5,6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GitLab project 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gitlabPipelineScheduleDescription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Schedule name to trigger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gitlabInsecureTls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4,5,6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Skip TLS verification (default: false)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7: Jira Defect Scout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Jira tickets for functional failures with steps, logs, and screenshots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6858000" cy="2743200"/>
          </a:xfrm>
          <a:prstGeom prst="roundRect">
            <a:avLst>
              <a:gd name="adj" fmla="val 3333"/>
            </a:avLst>
          </a:prstGeom>
          <a:solidFill>
            <a:srgbClr val="FEF2F2"/>
          </a:solidFill>
          <a:ln w="190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Consolidation Algorithm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6400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</a:rPr>
              <a:t>Scenarios with identical root causes → single Jira ticket
</a:t>
            </a:r>
            <a:r>
              <a:rPr lang="en-US" sz="1100" b="1" dirty="0">
                <a:solidFill>
                  <a:srgbClr val="000000"/>
                </a:solidFill>
              </a:rPr>
              <a:t>1. </a:t>
            </a:r>
            <a:r>
              <a:rPr lang="en-US" sz="1000" dirty="0">
                <a:solidFill>
                  <a:srgbClr val="000000"/>
                </a:solidFill>
              </a:rPr>
              <a:t>Get error log from each scenario
</a:t>
            </a:r>
            <a:r>
              <a:rPr lang="en-US" sz="1100" b="1" dirty="0">
                <a:solidFill>
                  <a:srgbClr val="000000"/>
                </a:solidFill>
              </a:rPr>
              <a:t>2. </a:t>
            </a:r>
            <a:r>
              <a:rPr lang="en-US" sz="1000" dirty="0">
                <a:solidFill>
                  <a:srgbClr val="000000"/>
                </a:solidFill>
              </a:rPr>
              <a:t>Normalize: timestamps→&lt;ts&gt;, UUIDs→&lt;uuid&gt;, numbers→#
</a:t>
            </a:r>
            <a:r>
              <a:rPr lang="en-US" sz="1100" b="1" dirty="0">
                <a:solidFill>
                  <a:srgbClr val="000000"/>
                </a:solidFill>
              </a:rPr>
              <a:t>3. </a:t>
            </a:r>
            <a:r>
              <a:rPr lang="en-US" sz="1000" dirty="0">
                <a:solidFill>
                  <a:srgbClr val="000000"/>
                </a:solidFill>
              </a:rPr>
              <a:t>Use normalized string as grouping key
</a:t>
            </a:r>
            <a:r>
              <a:rPr lang="en-US" sz="1100" b="1" dirty="0">
                <a:solidFill>
                  <a:srgbClr val="000000"/>
                </a:solidFill>
              </a:rPr>
              <a:t>4. </a:t>
            </a:r>
            <a:r>
              <a:rPr lang="en-US" sz="1000" dirty="0">
                <a:solidFill>
                  <a:srgbClr val="000000"/>
                </a:solidFill>
              </a:rPr>
              <a:t>First scenario = representative (provides steps/screenshot)
</a:t>
            </a:r>
            <a:r>
              <a:rPr lang="en-US" sz="1100" b="1" dirty="0">
                <a:solidFill>
                  <a:srgbClr val="000000"/>
                </a:solidFill>
              </a:rPr>
              <a:t>5. </a:t>
            </a:r>
            <a:r>
              <a:rPr lang="en-US" sz="1000" dirty="0">
                <a:solidFill>
                  <a:srgbClr val="000000"/>
                </a:solidFill>
              </a:rPr>
              <a:t>Others = listed as impacted test cases
</a:t>
            </a:r>
            <a:r>
              <a:rPr lang="en-US" sz="1000" b="1" dirty="0">
                <a:solidFill>
                  <a:srgbClr val="E74C3C"/>
                </a:solidFill>
              </a:rPr>
              <a:t>Summary: </a:t>
            </a: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[Consolidated] AI FAILURE: &lt;name&gt; (+N more)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89520" y="128016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Auto/Manual Mode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1828800"/>
            <a:ext cx="3749040" cy="914400"/>
          </a:xfrm>
          <a:prstGeom prst="roundRect">
            <a:avLst>
              <a:gd name="adj" fmla="val 6000"/>
            </a:avLst>
          </a:prstGeom>
          <a:solidFill>
            <a:srgbClr val="F0FF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63840" y="18745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Auto-create ON
</a:t>
            </a:r>
            <a:r>
              <a:rPr lang="en-US" sz="900" dirty="0">
                <a:solidFill>
                  <a:srgbClr val="6B7280"/>
                </a:solidFill>
              </a:rPr>
              <a:t>Creates tickets immediately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during pipeline execution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2880360"/>
            <a:ext cx="3749040" cy="1005840"/>
          </a:xfrm>
          <a:prstGeom prst="roundRect">
            <a:avLst>
              <a:gd name="adj" fmla="val 545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63840" y="29260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Auto-create OFF
</a:t>
            </a:r>
            <a:r>
              <a:rPr lang="en-US" sz="900" dirty="0">
                <a:solidFill>
                  <a:srgbClr val="6B7280"/>
                </a:solidFill>
              </a:rPr>
              <a:t>Shows "X Pending Review" status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"Create Defects" button on card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User reviews → clicks to submit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Jira Ticket Content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 Reproducible Steps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from scenario with PASSED/FAILED status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37560" y="466344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29000" y="4709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Failure Log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5029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error message / stack trace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466344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4709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Impacted Test Cases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5029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consolidated scenario names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098280" y="466344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89720" y="4709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📸  Screenshot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89720" y="5029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Auto-extracted from failed step embeddings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8: Notification Trigger — Teams Consolidated Report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Sends comprehensive pipeline execution summary to Microsoft Teams via webhook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Sections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Header &amp; Metrics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Solution, report name, duration, Total/Passed/Failed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🏷️  Classification Breakdown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926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/ Data / Env / Automation counts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474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 Data Healing Summary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3794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path, dates healed, rate records injected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4343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 GitLab Commit Info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4663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 hash or pending status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69164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55080" y="1737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Pipeline Orchestrator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ID, status, clickable URL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256032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5080" y="2606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🎫  Jira Status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2926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Tickets created or pending review count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42900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5080" y="3474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Failed Scenarios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20840" y="3794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failed scenario names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429768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55080" y="4343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Per-Agent Details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20840" y="4663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Status, result, and recent logs for each agent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534924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F0F7F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" y="5440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Message Format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5760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• Office 365 MessageCard format (@type: MessageCard)
• Color-coded theme: </a:t>
            </a:r>
            <a:r>
              <a:rPr lang="en-US" sz="1000" b="1" dirty="0">
                <a:solidFill>
                  <a:srgbClr val="DC2626"/>
                </a:solidFill>
              </a:rPr>
              <a:t>Red</a:t>
            </a:r>
            <a:r>
              <a:rPr lang="en-US" sz="1000" dirty="0">
                <a:solidFill>
                  <a:srgbClr val="000000"/>
                </a:solidFill>
              </a:rPr>
              <a:t> if failures &gt; 0, </a:t>
            </a:r>
            <a:r>
              <a:rPr lang="en-US" sz="1000" b="1" dirty="0">
                <a:solidFill>
                  <a:srgbClr val="0078D4"/>
                </a:solidFill>
              </a:rPr>
              <a:t>Blue</a:t>
            </a:r>
            <a:r>
              <a:rPr lang="en-US" sz="1000" dirty="0">
                <a:solidFill>
                  <a:srgbClr val="000000"/>
                </a:solidFill>
              </a:rPr>
              <a:t> otherwise
• Sections with key-value fact pairs  •  Markdown support  •  Clickable pipeline URL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Dependencies &amp; API Endpoints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Systems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734772"/>
              </p:ext>
            </p:extLst>
          </p:nvPr>
        </p:nvGraphicFramePr>
        <p:xfrm>
          <a:off x="457200" y="1280160"/>
          <a:ext cx="11247120" cy="241401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System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Connection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MongoDB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Selenium Store, Planning History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localhost:27017 / bugsense DB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GitLab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Test data repo, Pipelines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REST API v4 + Private Token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Jira (Atlassian)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Defect search &amp; creation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REST API v2 + Basic Auth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Confluence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Report storage (fallback)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REST API + Basic Auth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Microsoft Teams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Notifications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Incoming Webhook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GenAI (</a:t>
                      </a:r>
                      <a:r>
                        <a:rPr lang="en-US" sz="900" b="1" dirty="0" err="1">
                          <a:solidFill>
                            <a:srgbClr val="000000"/>
                          </a:solidFill>
                        </a:rPr>
                        <a:t>Genkit</a:t>
                      </a: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Report parsing, Classification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Server-side AI flows</a:t>
                      </a:r>
                      <a:endParaRPr lang="en-US" sz="900" dirty="0"/>
                    </a:p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Endpoints</a:t>
            </a:r>
            <a:endParaRPr lang="en-US" sz="15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11247120" cy="25603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Agent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/api/selenium/latest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Fetch latest execution JSON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/api/confluence/fetch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Fetch report from Confluence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/api/jira/search-defects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Search for existing defects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/api/mongo/planning-history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Query rate records from MongoDB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/api/gitlab/update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Fetch, heal dates, inject rates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/api/gitlab/commit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Commit healed JSON to GitLab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/api/gitlab/trigger-schedule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Trigger GitLab pipeline schedule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/api/jira/create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Create Jira issue with screenshot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/api/notifications/teams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Send Teams notification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0" y="3017520"/>
            <a:ext cx="2011680" cy="36576"/>
          </a:xfrm>
          <a:prstGeom prst="rect">
            <a:avLst/>
          </a:prstGeom>
          <a:solidFill>
            <a:srgbClr val="00B2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29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AI Agent Orchestrator  —  BugSense 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Agents  •  End-to-End Automation  •  GenAI Powered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36915f3-2f02-4945-8997-f2963298db46}" enabled="1" method="Standard" siteId="{cd99fef8-1cd3-4a2a-9bdf-15531181d65e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1472</Words>
  <Application>Microsoft Office PowerPoint</Application>
  <PresentationFormat>Widescreen</PresentationFormat>
  <Paragraphs>280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Consolas</vt:lpstr>
      <vt:lpstr>Delivery</vt:lpstr>
      <vt:lpstr>Segoe UI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DHL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Orchestrator - Pipeline Overview</dc:title>
  <dc:subject>AI Agent Orchestrator</dc:subject>
  <dc:creator>BugSense AI</dc:creator>
  <cp:lastModifiedBy>Divagar Karunanidhi (DHL IT Services), external</cp:lastModifiedBy>
  <cp:revision>2</cp:revision>
  <dcterms:created xsi:type="dcterms:W3CDTF">2026-05-09T10:21:00Z</dcterms:created>
  <dcterms:modified xsi:type="dcterms:W3CDTF">2026-05-11T03:27:20Z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FOR INTERNAL USE</vt:lpwstr>
  </property>
</Properties>
</file>